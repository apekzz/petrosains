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Aircharge board seat on the Wireless Power Consortium — they help define the Qi standard, not just implement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Decision: 915 MHz as the primary long-range frequency, 2.45 GHz as a secondary/support frequency for small nearby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Published rectenna PCE figures in research range roughly 20–80% depending on input power level, frequency, and distance — quote a range, not a single fixed number, until Aircharge Living has its own tested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WHO/IARC classifies RF EMF as 'possibly carcinogenic' (Group 2B) based on limited evidence — the same category as pickled vegetables and coffee. This reflects an absence of strong evidence either way, not a confirmed risk. Cite ICNIRP 2020, FCC, and ETSI directly if a client asks for sourcing.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Market-growth CAGR figures found in research (~24% CAGR through 2028) should be re-verified against a primary source before being quoted to a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875520" y="-914400"/>
            <a:ext cx="4206240" cy="4206240"/>
          </a:xfrm>
          <a:prstGeom prst="ellipse">
            <a:avLst/>
          </a:prstGeom>
          <a:solidFill>
            <a:srgbClr val="1C7293">
              <a:alpha val="6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2435860" y="486283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WIRELESS CHARGING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05790" y="1682115"/>
            <a:ext cx="91440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MY" alt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</a:t>
            </a: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ircharge</a:t>
            </a:r>
            <a:r>
              <a:rPr lang="en-MY" alt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Living</a:t>
            </a:r>
            <a:endParaRPr lang="en-MY" altLang="en-US" sz="5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05790" y="3264535"/>
            <a:ext cx="7680960" cy="1124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MY" alt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Members Name :</a:t>
            </a:r>
            <a:endParaRPr lang="en-MY" altLang="en-US" sz="15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endParaRPr lang="en-MY" altLang="en-US" sz="15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Muhammad Amirusyafi Syahabuddin bin Syahrul Nizar Syahabuddin</a:t>
            </a:r>
            <a:r>
              <a:rPr lang="en-MY" alt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</a:t>
            </a:r>
            <a:r>
              <a:rPr lang="en-US" alt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522226395</a:t>
            </a:r>
            <a:r>
              <a:rPr lang="en-MY" alt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MY" altLang="en-US" sz="15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Hilman Hazmi bin Mohd Azbany</a:t>
            </a:r>
            <a:r>
              <a:rPr lang="en-MY" alt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</a:t>
            </a:r>
            <a:r>
              <a:rPr lang="en-US" alt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522226392</a:t>
            </a:r>
            <a:r>
              <a:rPr lang="en-MY" alt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MY" altLang="en-US" sz="15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Muhammad Najmie Bin Mohamad Nazri</a:t>
            </a:r>
            <a:r>
              <a:rPr lang="en-MY" alt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</a:t>
            </a:r>
            <a:r>
              <a:rPr lang="en-US" alt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522226376</a:t>
            </a:r>
            <a:r>
              <a:rPr lang="en-MY" alt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MY" altLang="en-US" sz="15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Aircharge 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Furniture-integrated wireless charging, engineered as infrastructure — not an accessory.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0" cy="4434840"/>
          </a:xfrm>
          <a:prstGeom prst="roundRect">
            <a:avLst>
              <a:gd name="adj" fmla="val 2474"/>
            </a:avLst>
          </a:prstGeom>
          <a:solidFill>
            <a:srgbClr val="F4F7FA"/>
          </a:solidFill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480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Aircharge designs and manufactures Qi-certified wireless chargers that integrate directly into desks, tables, and counters — </a:t>
            </a: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through-surface, sub-surface, on-surface, or fully battery-powered</a:t>
            </a:r>
            <a:r>
              <a:rPr lang="en-US" sz="135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where mains power isn't available.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3246120"/>
            <a:ext cx="457200" cy="45720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7" name="Image 0" descr="batte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33489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36192" y="321868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 to 15W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536192" y="35021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universal charging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3904488"/>
            <a:ext cx="457200" cy="45720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1" name="Image 1" descr="smart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400735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36192" y="3877056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130+ devices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36192" y="41605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 manufacturers supported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14400" y="4562856"/>
            <a:ext cx="457200" cy="45720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5" name="Image 2" descr="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665726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36192" y="453542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MFi certified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536192" y="481888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official Apple business partner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14400" y="5221224"/>
            <a:ext cx="457200" cy="45720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9" name="Image 3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5324094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536192" y="5193792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2-year warranty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1536192" y="547725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lab-tested for safety &amp; efficiency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943600" y="1600200"/>
            <a:ext cx="2788920" cy="2103120"/>
          </a:xfrm>
          <a:prstGeom prst="roundRect">
            <a:avLst>
              <a:gd name="adj" fmla="val 4348"/>
            </a:avLst>
          </a:prstGeom>
          <a:solidFill>
            <a:srgbClr val="21295C"/>
          </a:solidFill>
        </p:spPr>
      </p:sp>
      <p:sp>
        <p:nvSpPr>
          <p:cNvPr id="23" name="Shape 17"/>
          <p:cNvSpPr/>
          <p:nvPr/>
        </p:nvSpPr>
        <p:spPr>
          <a:xfrm>
            <a:off x="6172200" y="1856232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4" name="Image 4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357" y="1969389"/>
            <a:ext cx="276606" cy="27660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172200" y="251460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Through-surface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172200" y="288036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seamless, invisible under the tabletop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8915400" y="1600200"/>
            <a:ext cx="2788920" cy="2103120"/>
          </a:xfrm>
          <a:prstGeom prst="roundRect">
            <a:avLst>
              <a:gd name="adj" fmla="val 4348"/>
            </a:avLst>
          </a:prstGeom>
          <a:solidFill>
            <a:srgbClr val="21295C"/>
          </a:solidFill>
        </p:spPr>
      </p:sp>
      <p:sp>
        <p:nvSpPr>
          <p:cNvPr id="28" name="Shape 21"/>
          <p:cNvSpPr/>
          <p:nvPr/>
        </p:nvSpPr>
        <p:spPr>
          <a:xfrm>
            <a:off x="9144000" y="1856232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9" name="Image 5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7157" y="1969389"/>
            <a:ext cx="276606" cy="27660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144000" y="251460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Sub-surface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9144000" y="288036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premium finish, no visible hardware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5943600" y="3886200"/>
            <a:ext cx="2788920" cy="2103120"/>
          </a:xfrm>
          <a:prstGeom prst="roundRect">
            <a:avLst>
              <a:gd name="adj" fmla="val 4348"/>
            </a:avLst>
          </a:prstGeom>
          <a:solidFill>
            <a:srgbClr val="21295C"/>
          </a:solidFill>
        </p:spPr>
      </p:sp>
      <p:sp>
        <p:nvSpPr>
          <p:cNvPr id="33" name="Shape 25"/>
          <p:cNvSpPr/>
          <p:nvPr/>
        </p:nvSpPr>
        <p:spPr>
          <a:xfrm>
            <a:off x="6172200" y="4142232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4" name="Image 6" descr="wi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357" y="4255389"/>
            <a:ext cx="276606" cy="27660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172200" y="480060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On-surface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6172200" y="516636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plug-and-play, fast to deploy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8915400" y="3886200"/>
            <a:ext cx="2788920" cy="2103120"/>
          </a:xfrm>
          <a:prstGeom prst="roundRect">
            <a:avLst>
              <a:gd name="adj" fmla="val 4348"/>
            </a:avLst>
          </a:prstGeom>
          <a:solidFill>
            <a:srgbClr val="21295C"/>
          </a:solidFill>
        </p:spPr>
      </p:sp>
      <p:sp>
        <p:nvSpPr>
          <p:cNvPr id="38" name="Shape 29"/>
          <p:cNvSpPr/>
          <p:nvPr/>
        </p:nvSpPr>
        <p:spPr>
          <a:xfrm>
            <a:off x="9144000" y="4142232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9" name="Image 7" descr="batte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157" y="4255389"/>
            <a:ext cx="276606" cy="276606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9144000" y="480060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Battery-powered</a:t>
            </a:r>
            <a:endParaRPr lang="en-US" sz="1400" dirty="0"/>
          </a:p>
        </p:txBody>
      </p:sp>
      <p:sp>
        <p:nvSpPr>
          <p:cNvPr id="41" name="Text 31"/>
          <p:cNvSpPr txBox="1"/>
          <p:nvPr/>
        </p:nvSpPr>
        <p:spPr>
          <a:xfrm>
            <a:off x="9144000" y="516636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world-first solution — no wiring needed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AIRCHARGE LIVING — LONG-RANGE POWER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Choosing the Right Frequency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deliver power over distance (up to ~5 metres), Aircharge Living operates in the license-free ISM band — the same regulatory space as Wi-Fi and Bluetooth.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029200" cy="4297680"/>
          </a:xfrm>
          <a:prstGeom prst="roundRect">
            <a:avLst>
              <a:gd name="adj" fmla="val 2553"/>
            </a:avLst>
          </a:prstGeom>
          <a:solidFill>
            <a:srgbClr val="F4F7FA"/>
          </a:solidFill>
        </p:spPr>
      </p:sp>
      <p:sp>
        <p:nvSpPr>
          <p:cNvPr id="6" name="Text 4"/>
          <p:cNvSpPr txBox="1"/>
          <p:nvPr/>
        </p:nvSpPr>
        <p:spPr>
          <a:xfrm>
            <a:off x="914400" y="193852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 RULES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438912" cy="438912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8" name="Image 0" descr="targ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430475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81328" y="2313432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Range — under 5 metres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481328" y="2587752"/>
            <a:ext cx="3977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to deliver usable power at an estimated distance of under 5 metres.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14400" y="3200400"/>
            <a:ext cx="438912" cy="438912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2" name="Image 1" descr="ra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" y="3299155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81328" y="3182112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ISM band frequencies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481328" y="3456432"/>
            <a:ext cx="3977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Industrial, Scientific and Medical (ISM) frequencies — reserved for exactly this kind of use.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914400" y="4069080"/>
            <a:ext cx="438912" cy="438912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6" name="Image 2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416783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81328" y="4050792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Regulator-approved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1481328" y="4325112"/>
            <a:ext cx="3977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Authorised by the FCC in the US and ETSI in Europe.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14400" y="4937760"/>
            <a:ext cx="438912" cy="438912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20" name="Image 3" descr="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" y="5036515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81328" y="4919472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interference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1481328" y="5193792"/>
            <a:ext cx="3977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Engineered not to disrupt Wi-Fi, radio, or other nearby communications.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943600" y="1737360"/>
            <a:ext cx="5577840" cy="2057400"/>
          </a:xfrm>
          <a:prstGeom prst="roundRect">
            <a:avLst>
              <a:gd name="adj" fmla="val 5333"/>
            </a:avLst>
          </a:prstGeom>
          <a:solidFill>
            <a:srgbClr val="21295C"/>
          </a:solidFill>
        </p:spPr>
      </p:sp>
      <p:sp>
        <p:nvSpPr>
          <p:cNvPr id="24" name="Text 18"/>
          <p:cNvSpPr txBox="1"/>
          <p:nvPr/>
        </p:nvSpPr>
        <p:spPr>
          <a:xfrm>
            <a:off x="6217920" y="1901952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915 MHz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6217920" y="230428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Longer wavelength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17920" y="2706624"/>
            <a:ext cx="73152" cy="73152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7" name="Text 21"/>
          <p:cNvSpPr txBox="1"/>
          <p:nvPr/>
        </p:nvSpPr>
        <p:spPr>
          <a:xfrm>
            <a:off x="6382512" y="259689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 path loss over distance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217920" y="3026664"/>
            <a:ext cx="73152" cy="73152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9" name="Text 23"/>
          <p:cNvSpPr txBox="1"/>
          <p:nvPr/>
        </p:nvSpPr>
        <p:spPr>
          <a:xfrm>
            <a:off x="6382512" y="291693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Covers the full &lt;5 metre range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217920" y="3346704"/>
            <a:ext cx="73152" cy="73152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1" name="Text 25"/>
          <p:cNvSpPr txBox="1"/>
          <p:nvPr/>
        </p:nvSpPr>
        <p:spPr>
          <a:xfrm>
            <a:off x="6382512" y="323697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Chosen as the PRIMARY frequency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943600" y="3977640"/>
            <a:ext cx="5577840" cy="2057400"/>
          </a:xfrm>
          <a:prstGeom prst="roundRect">
            <a:avLst>
              <a:gd name="adj" fmla="val 5333"/>
            </a:avLst>
          </a:prstGeom>
          <a:solidFill>
            <a:srgbClr val="21295C"/>
          </a:solidFill>
        </p:spPr>
      </p:sp>
      <p:sp>
        <p:nvSpPr>
          <p:cNvPr id="33" name="Text 27"/>
          <p:cNvSpPr txBox="1"/>
          <p:nvPr/>
        </p:nvSpPr>
        <p:spPr>
          <a:xfrm>
            <a:off x="6217920" y="4142232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2.45 GHz</a:t>
            </a:r>
            <a:endParaRPr lang="en-US" sz="2200" dirty="0"/>
          </a:p>
        </p:txBody>
      </p:sp>
      <p:sp>
        <p:nvSpPr>
          <p:cNvPr id="34" name="Text 28"/>
          <p:cNvSpPr txBox="1"/>
          <p:nvPr/>
        </p:nvSpPr>
        <p:spPr>
          <a:xfrm>
            <a:off x="6217920" y="454456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band as Wi-Fi / Bluetooth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6217920" y="4946904"/>
            <a:ext cx="73152" cy="73152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36" name="Text 30"/>
          <p:cNvSpPr txBox="1"/>
          <p:nvPr/>
        </p:nvSpPr>
        <p:spPr>
          <a:xfrm>
            <a:off x="6382512" y="483717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Shorter wavelength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217920" y="5266944"/>
            <a:ext cx="73152" cy="73152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38" name="Text 32"/>
          <p:cNvSpPr txBox="1"/>
          <p:nvPr/>
        </p:nvSpPr>
        <p:spPr>
          <a:xfrm>
            <a:off x="6382512" y="515721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Energy dissipates faster over distance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6217920" y="5586984"/>
            <a:ext cx="73152" cy="73152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40" name="Text 34"/>
          <p:cNvSpPr txBox="1"/>
          <p:nvPr/>
        </p:nvSpPr>
        <p:spPr>
          <a:xfrm>
            <a:off x="6382512" y="547725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as SECONDARY, for small nearby devices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AIRCHARGE LIVING — LONG-RANGE POWER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Radio Waves to Charge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rectenna — “rectifying antenna” — turns incoming radio waves directly into DC power a battery can use.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65A82">
              <a:alpha val="80000"/>
            </a:srgbClr>
          </a:solidFill>
        </p:spPr>
      </p:sp>
      <p:sp>
        <p:nvSpPr>
          <p:cNvPr id="6" name="Text 4"/>
          <p:cNvSpPr txBox="1"/>
          <p:nvPr/>
        </p:nvSpPr>
        <p:spPr>
          <a:xfrm>
            <a:off x="804672" y="166420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" y="1938528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8" name="Image 0" descr="rad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20824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4672" y="2395728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Antenna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688336"/>
            <a:ext cx="23134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Captures incoming RF (radio) waves sent by the transmitter.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383280" y="15544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65A82">
              <a:alpha val="80000"/>
            </a:srgbClr>
          </a:solidFill>
        </p:spPr>
      </p:sp>
      <p:sp>
        <p:nvSpPr>
          <p:cNvPr id="12" name="Text 9"/>
          <p:cNvSpPr txBox="1"/>
          <p:nvPr/>
        </p:nvSpPr>
        <p:spPr>
          <a:xfrm>
            <a:off x="3547872" y="166420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547872" y="1938528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4" name="Image 1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020824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47872" y="2395728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Impedance matching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3547872" y="2688336"/>
            <a:ext cx="23134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Tunes the antenna and rectifier so they're 'matched' — minimal energy is wasted.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126480" y="15544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65A82">
              <a:alpha val="80000"/>
            </a:srgbClr>
          </a:solidFill>
        </p:spPr>
      </p:sp>
      <p:sp>
        <p:nvSpPr>
          <p:cNvPr id="18" name="Text 14"/>
          <p:cNvSpPr txBox="1"/>
          <p:nvPr/>
        </p:nvSpPr>
        <p:spPr>
          <a:xfrm>
            <a:off x="6291072" y="166420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91072" y="1938528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0" name="Image 2" descr="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020824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91072" y="2395728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Rectifier (Schottky diode)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6291072" y="2688336"/>
            <a:ext cx="23134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Converts the AC signal into DC — the same form of power a battery stores.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8869680" y="15544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65A82">
              <a:alpha val="80000"/>
            </a:srgbClr>
          </a:solidFill>
        </p:spPr>
      </p:sp>
      <p:sp>
        <p:nvSpPr>
          <p:cNvPr id="24" name="Text 19"/>
          <p:cNvSpPr txBox="1"/>
          <p:nvPr/>
        </p:nvSpPr>
        <p:spPr>
          <a:xfrm>
            <a:off x="9034272" y="166420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9034272" y="1938528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6" name="Image 3" descr="batte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568" y="2020824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034272" y="2395728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9034272" y="2688336"/>
            <a:ext cx="23134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Smooths the DC output so it can directly charge a phone, watch, or earbuds.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640080" y="3456432"/>
            <a:ext cx="10881360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</p:spPr>
      </p:sp>
      <p:sp>
        <p:nvSpPr>
          <p:cNvPr id="30" name="Text 24"/>
          <p:cNvSpPr txBox="1"/>
          <p:nvPr/>
        </p:nvSpPr>
        <p:spPr>
          <a:xfrm>
            <a:off x="822960" y="3456432"/>
            <a:ext cx="10515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Radio Wave (AC)  →  Antenna  →  Rectifier (diode)  →  DC  →  Battery Charge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640080" y="4041648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4F7FA"/>
          </a:solidFill>
        </p:spPr>
      </p:sp>
      <p:sp>
        <p:nvSpPr>
          <p:cNvPr id="32" name="Text 26"/>
          <p:cNvSpPr txBox="1"/>
          <p:nvPr/>
        </p:nvSpPr>
        <p:spPr>
          <a:xfrm>
            <a:off x="914400" y="4224528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a) FRIIS TRANSMISSION EQUATION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914400" y="4498848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much power arrives at a given distance: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914400" y="4791456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 = Pt · Gt · Gr · (λ / 4πR)²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914400" y="5248656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</a:t>
            </a:r>
            <a:r>
              <a:rPr lang="en-US" sz="9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power received   </a:t>
            </a:r>
            <a:r>
              <a:rPr lang="en-US" sz="9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Pt</a:t>
            </a:r>
            <a:r>
              <a:rPr lang="en-US" sz="9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power transmitted
</a:t>
            </a:r>
            <a:r>
              <a:rPr lang="en-US" sz="9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Gt / Gr</a:t>
            </a:r>
            <a:r>
              <a:rPr lang="en-US" sz="9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antenna gain   </a:t>
            </a:r>
            <a:r>
              <a:rPr lang="en-US" sz="9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λ</a:t>
            </a:r>
            <a:r>
              <a:rPr lang="en-US" sz="9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wavelength   </a:t>
            </a:r>
            <a:r>
              <a:rPr lang="en-US" sz="9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lang="en-US" sz="9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distance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914400" y="5797296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is squared — which is why range and power are a direct trade-off: double the distance, and received power drops to roughly a quarter.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6172200" y="4041648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4F7FA"/>
          </a:solidFill>
        </p:spPr>
      </p:sp>
      <p:sp>
        <p:nvSpPr>
          <p:cNvPr id="38" name="Text 32"/>
          <p:cNvSpPr txBox="1"/>
          <p:nvPr/>
        </p:nvSpPr>
        <p:spPr>
          <a:xfrm>
            <a:off x="6446520" y="4224528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b) POWER CONVERSION EFFICIENCY (PCE)</a:t>
            </a:r>
            <a:endParaRPr lang="en-US" sz="1050" dirty="0"/>
          </a:p>
        </p:txBody>
      </p:sp>
      <p:sp>
        <p:nvSpPr>
          <p:cNvPr id="39" name="Text 33"/>
          <p:cNvSpPr txBox="1"/>
          <p:nvPr/>
        </p:nvSpPr>
        <p:spPr>
          <a:xfrm>
            <a:off x="6446520" y="4498848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efficiently the rectenna converts what it receives: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6446520" y="4791456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PCE (%) = (DC power out / RF power in) × 100</a:t>
            </a:r>
            <a:endParaRPr lang="en-US" sz="1400" dirty="0"/>
          </a:p>
        </p:txBody>
      </p:sp>
      <p:sp>
        <p:nvSpPr>
          <p:cNvPr id="41" name="Text 35"/>
          <p:cNvSpPr txBox="1"/>
          <p:nvPr/>
        </p:nvSpPr>
        <p:spPr>
          <a:xfrm>
            <a:off x="6446520" y="523036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a rectenna receiving 1W of RF but outputting 0.5W of DC has a PCE of 50%.</a:t>
            </a:r>
            <a:endParaRPr lang="en-US" sz="950" dirty="0"/>
          </a:p>
        </p:txBody>
      </p:sp>
      <p:sp>
        <p:nvSpPr>
          <p:cNvPr id="42" name="Text 36"/>
          <p:cNvSpPr txBox="1"/>
          <p:nvPr/>
        </p:nvSpPr>
        <p:spPr>
          <a:xfrm>
            <a:off x="6446520" y="5733288"/>
            <a:ext cx="4800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Friis calculates how much RF energy reaches the device. PCE calculates how much of that energy can actually be used to charge the battery.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Is It Safe — For People and the Planet?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 answer: yes for users, with one honest efficiency trade-off worth knowing about.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21295C"/>
          </a:solidFill>
        </p:spPr>
      </p:sp>
      <p:sp>
        <p:nvSpPr>
          <p:cNvPr id="5" name="Shape 3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pic>
        <p:nvPicPr>
          <p:cNvPr id="6" name="Image 0" descr="he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557" y="1941957"/>
            <a:ext cx="276606" cy="2766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56232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Users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9" name="Text 6"/>
          <p:cNvSpPr txBox="1"/>
          <p:nvPr/>
        </p:nvSpPr>
        <p:spPr>
          <a:xfrm>
            <a:off x="1143000" y="24414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Non-ionizing RF energy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71576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Operates in the same non-ionizing spectrum as Wi-Fi, Bluetooth, and microwave ovens — far below the energy level of X-rays, which can damage DNA.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14400" y="3456432"/>
            <a:ext cx="109728" cy="109728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12" name="Text 9"/>
          <p:cNvSpPr txBox="1"/>
          <p:nvPr/>
        </p:nvSpPr>
        <p:spPr>
          <a:xfrm>
            <a:off x="1143000" y="33375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Within global exposure limits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361188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Regulator-approved by the FCC (US) and ETSI (Europe), and designed to comply with ICNIRP RF exposure guidelines.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14400" y="4352544"/>
            <a:ext cx="109728" cy="109728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15" name="Text 12"/>
          <p:cNvSpPr txBox="1"/>
          <p:nvPr/>
        </p:nvSpPr>
        <p:spPr>
          <a:xfrm>
            <a:off x="1143000" y="4233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confirmed adverse health effects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4507992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WHO and ICNIRP's 2020 review found no confirmed health effects from long-term, low-level RF exposure at these power levels.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14400" y="5248656"/>
            <a:ext cx="109728" cy="109728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18" name="Text 15"/>
          <p:cNvSpPr txBox="1"/>
          <p:nvPr/>
        </p:nvSpPr>
        <p:spPr>
          <a:xfrm>
            <a:off x="1143000" y="512978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falls off with distance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5404104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the Friis equation, received power drops sharply the further a device is from the transmitter — exposure is inherently limited by physics, not just design.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72200" y="160020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F4F7FA"/>
          </a:solidFill>
        </p:spPr>
      </p:sp>
      <p:sp>
        <p:nvSpPr>
          <p:cNvPr id="21" name="Shape 18"/>
          <p:cNvSpPr/>
          <p:nvPr/>
        </p:nvSpPr>
        <p:spPr>
          <a:xfrm>
            <a:off x="6446520" y="1828800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2" name="Image 1" descr="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677" y="1941957"/>
            <a:ext cx="276606" cy="27660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086600" y="1856232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the Environment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6446520" y="2560320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5" name="Text 21"/>
          <p:cNvSpPr txBox="1"/>
          <p:nvPr/>
        </p:nvSpPr>
        <p:spPr>
          <a:xfrm>
            <a:off x="6675120" y="24414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honest trade-off: efficiency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6675120" y="271576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Far-field RF-to-DC conversion is inherently less efficient than plugging in, and efficiency drops further with distance — a known, physics-driven characteristic of this technology, not an implementation flaw.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446520" y="3858768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8" name="Text 24"/>
          <p:cNvSpPr txBox="1"/>
          <p:nvPr/>
        </p:nvSpPr>
        <p:spPr>
          <a:xfrm>
            <a:off x="6675120" y="373989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Offset by durability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6675120" y="4014216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cables or connectors to fray or snap means fewer replacement units and less e-waste over a product's lifetime.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446520" y="5157216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1" name="Text 27"/>
          <p:cNvSpPr txBox="1"/>
          <p:nvPr/>
        </p:nvSpPr>
        <p:spPr>
          <a:xfrm>
            <a:off x="6675120" y="503834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to certified standards</a:t>
            </a:r>
            <a:endParaRPr lang="en-US" sz="1250" dirty="0"/>
          </a:p>
        </p:txBody>
      </p:sp>
      <p:sp>
        <p:nvSpPr>
          <p:cNvPr id="32" name="Text 28"/>
          <p:cNvSpPr txBox="1"/>
          <p:nvPr/>
        </p:nvSpPr>
        <p:spPr>
          <a:xfrm>
            <a:off x="6675120" y="5312664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Regulator approval (FCC/ETSI) keeps transmit power — and therefore wasted energy — within tested, controlled limits.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It Pays Off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Charging isn't just a convenience — it's a lever for dwell time, engagement, and brand trust.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065A82">
              <a:alpha val="75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F96167"/>
          </a:solidFill>
        </p:spPr>
      </p:sp>
      <p:pic>
        <p:nvPicPr>
          <p:cNvPr id="6" name="Image 0" descr="cl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84248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Longer dwell time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5176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charging table gives customers a reason to stay, order more, and linger — especially in F&amp;B and hospitality.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065A82">
              <a:alpha val="75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F96167"/>
          </a:solidFill>
        </p:spPr>
      </p:sp>
      <p:pic>
        <p:nvPicPr>
          <p:cNvPr id="11" name="Image 1" descr="tr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20894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984248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Built-in engagement layer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65176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Aircharge's cloud platform turns every charge point into a channel for offers, feedback, and loyalty data.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065A82">
              <a:alpha val="75000"/>
            </a:srgbClr>
          </a:solidFill>
        </p:spPr>
      </p:sp>
      <p:sp>
        <p:nvSpPr>
          <p:cNvPr id="15" name="Shape 11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F96167"/>
          </a:solidFill>
        </p:spPr>
      </p:sp>
      <p:pic>
        <p:nvPicPr>
          <p:cNvPr id="16" name="Image 2" descr="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45125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407408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install friction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507492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Sub-surface and battery-powered formats mean no rewiring and no dependency on existing power access.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11480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065A82">
              <a:alpha val="75000"/>
            </a:srgbClr>
          </a:solidFill>
        </p:spPr>
      </p:sp>
      <p:sp>
        <p:nvSpPr>
          <p:cNvPr id="20" name="Shape 15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96167"/>
          </a:solidFill>
        </p:spPr>
      </p:sp>
      <p:pic>
        <p:nvPicPr>
          <p:cNvPr id="21" name="Image 3" descr="aw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404" y="451256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407408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Brand credibility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37960" y="507492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MFi Apple certification and a 2-year warranty reassure customers this is premium infrastructure, not a gadget.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Proven at Scale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a pilot project — deployed globally across the sectors that matter most.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55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8483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countries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50876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5,000+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08483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locations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50876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130+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08483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compatible devices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150876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2013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208483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founded, UK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10881360" cy="0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260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4F7FA"/>
          </a:solidFill>
        </p:spPr>
      </p:sp>
      <p:sp>
        <p:nvSpPr>
          <p:cNvPr id="14" name="Shape 12"/>
          <p:cNvSpPr/>
          <p:nvPr/>
        </p:nvSpPr>
        <p:spPr>
          <a:xfrm>
            <a:off x="868680" y="3182112"/>
            <a:ext cx="502920" cy="502920"/>
          </a:xfrm>
          <a:prstGeom prst="ellipse">
            <a:avLst/>
          </a:prstGeom>
          <a:solidFill>
            <a:srgbClr val="21295C"/>
          </a:solidFill>
        </p:spPr>
      </p:sp>
      <p:pic>
        <p:nvPicPr>
          <p:cNvPr id="15" name="Image 0" descr="mapp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3295269"/>
            <a:ext cx="276606" cy="27660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68680" y="384048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Quick-service restaurants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4526280"/>
            <a:ext cx="21488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McDonald's rolled out Aircharge across UK restaurants in 2015, later expanding to 16 countries.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92424" y="29260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4F7FA"/>
          </a:solidFill>
        </p:spPr>
      </p:sp>
      <p:sp>
        <p:nvSpPr>
          <p:cNvPr id="19" name="Shape 16"/>
          <p:cNvSpPr/>
          <p:nvPr/>
        </p:nvSpPr>
        <p:spPr>
          <a:xfrm>
            <a:off x="3621024" y="3182112"/>
            <a:ext cx="502920" cy="502920"/>
          </a:xfrm>
          <a:prstGeom prst="ellipse">
            <a:avLst/>
          </a:prstGeom>
          <a:solidFill>
            <a:srgbClr val="21295C"/>
          </a:solidFill>
        </p:spPr>
      </p:sp>
      <p:pic>
        <p:nvPicPr>
          <p:cNvPr id="20" name="Image 1" descr="wif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181" y="3295269"/>
            <a:ext cx="276606" cy="27660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3621024" y="384048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Rail &amp; transport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3621024" y="4526280"/>
            <a:ext cx="21488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Debuted the first fully rail-compliant inductive charging system, on South Western Railway (2018).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144768" y="29260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4F7FA"/>
          </a:solidFill>
        </p:spPr>
      </p:sp>
      <p:sp>
        <p:nvSpPr>
          <p:cNvPr id="24" name="Shape 20"/>
          <p:cNvSpPr/>
          <p:nvPr/>
        </p:nvSpPr>
        <p:spPr>
          <a:xfrm>
            <a:off x="6373368" y="3182112"/>
            <a:ext cx="502920" cy="502920"/>
          </a:xfrm>
          <a:prstGeom prst="ellipse">
            <a:avLst/>
          </a:prstGeom>
          <a:solidFill>
            <a:srgbClr val="21295C"/>
          </a:solidFill>
        </p:spPr>
      </p:sp>
      <p:pic>
        <p:nvPicPr>
          <p:cNvPr id="25" name="Image 2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295269"/>
            <a:ext cx="276606" cy="27660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373368" y="384048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Airports &amp; travel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6373368" y="4526280"/>
            <a:ext cx="21488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at Heathrow, Gatwick, JFK, Miami International, Boston Logan, Dubai, and Sydney.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897112" y="29260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4F7FA"/>
          </a:solidFill>
        </p:spPr>
      </p:sp>
      <p:sp>
        <p:nvSpPr>
          <p:cNvPr id="29" name="Shape 24"/>
          <p:cNvSpPr/>
          <p:nvPr/>
        </p:nvSpPr>
        <p:spPr>
          <a:xfrm>
            <a:off x="9125712" y="3182112"/>
            <a:ext cx="502920" cy="502920"/>
          </a:xfrm>
          <a:prstGeom prst="ellipse">
            <a:avLst/>
          </a:prstGeom>
          <a:solidFill>
            <a:srgbClr val="21295C"/>
          </a:solidFill>
        </p:spPr>
      </p:sp>
      <p:pic>
        <p:nvPicPr>
          <p:cNvPr id="30" name="Image 3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8869" y="3295269"/>
            <a:ext cx="276606" cy="27660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125712" y="384048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Automotive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9125712" y="4526280"/>
            <a:ext cx="21488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BMW Group and Mercedes-Benz partnered with Aircharge on customised wireless charging cases.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Not Just Use Cables?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Aircharge compares to the alternatives your customers already tolerate.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10312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2880360" y="160020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21295C"/>
          </a:solidFill>
        </p:spPr>
      </p:sp>
      <p:sp>
        <p:nvSpPr>
          <p:cNvPr id="6" name="Text 4"/>
          <p:cNvSpPr txBox="1"/>
          <p:nvPr/>
        </p:nvSpPr>
        <p:spPr>
          <a:xfrm>
            <a:off x="2880360" y="16002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Aircharge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60020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</p:spPr>
      </p:sp>
      <p:sp>
        <p:nvSpPr>
          <p:cNvPr id="8" name="Text 6"/>
          <p:cNvSpPr txBox="1"/>
          <p:nvPr/>
        </p:nvSpPr>
        <p:spPr>
          <a:xfrm>
            <a:off x="5943600" y="16002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Cable Stations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006840" y="160020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</p:spPr>
      </p:sp>
      <p:sp>
        <p:nvSpPr>
          <p:cNvPr id="10" name="Text 8"/>
          <p:cNvSpPr txBox="1"/>
          <p:nvPr/>
        </p:nvSpPr>
        <p:spPr>
          <a:xfrm>
            <a:off x="9006840" y="16002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Generic Wireless Pads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25856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80360" y="2258568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EAF0FA"/>
          </a:solidFill>
        </p:spPr>
      </p:sp>
      <p:sp>
        <p:nvSpPr>
          <p:cNvPr id="13" name="Text 11"/>
          <p:cNvSpPr txBox="1"/>
          <p:nvPr/>
        </p:nvSpPr>
        <p:spPr>
          <a:xfrm>
            <a:off x="3017520" y="22585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into furniture &amp; surfaces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258568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</p:spPr>
      </p:sp>
      <p:sp>
        <p:nvSpPr>
          <p:cNvPr id="15" name="Text 13"/>
          <p:cNvSpPr txBox="1"/>
          <p:nvPr/>
        </p:nvSpPr>
        <p:spPr>
          <a:xfrm>
            <a:off x="6080760" y="22585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Bulky, cable clutter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2258568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</p:spPr>
      </p:sp>
      <p:sp>
        <p:nvSpPr>
          <p:cNvPr id="17" name="Text 15"/>
          <p:cNvSpPr txBox="1"/>
          <p:nvPr/>
        </p:nvSpPr>
        <p:spPr>
          <a:xfrm>
            <a:off x="9144000" y="22585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Loose on top, easily moved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17296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Certification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880360" y="3172968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EAF0FA"/>
          </a:solidFill>
        </p:spPr>
      </p:sp>
      <p:sp>
        <p:nvSpPr>
          <p:cNvPr id="20" name="Text 18"/>
          <p:cNvSpPr txBox="1"/>
          <p:nvPr/>
        </p:nvSpPr>
        <p:spPr>
          <a:xfrm>
            <a:off x="3017520" y="31729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Qi-certified + MFi Apple partner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3172968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</p:spPr>
      </p:sp>
      <p:sp>
        <p:nvSpPr>
          <p:cNvPr id="22" name="Text 20"/>
          <p:cNvSpPr txBox="1"/>
          <p:nvPr/>
        </p:nvSpPr>
        <p:spPr>
          <a:xfrm>
            <a:off x="6080760" y="31729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N/A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06840" y="3172968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</p:spPr>
      </p:sp>
      <p:sp>
        <p:nvSpPr>
          <p:cNvPr id="24" name="Text 22"/>
          <p:cNvSpPr txBox="1"/>
          <p:nvPr/>
        </p:nvSpPr>
        <p:spPr>
          <a:xfrm>
            <a:off x="9144000" y="31729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Often uncertified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08736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Engagement data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880360" y="4087368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EAF0FA"/>
          </a:solidFill>
        </p:spPr>
      </p:sp>
      <p:sp>
        <p:nvSpPr>
          <p:cNvPr id="27" name="Text 25"/>
          <p:cNvSpPr txBox="1"/>
          <p:nvPr/>
        </p:nvSpPr>
        <p:spPr>
          <a:xfrm>
            <a:off x="3017520" y="40873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Built-in digital engagement platform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4087368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</p:spPr>
      </p:sp>
      <p:sp>
        <p:nvSpPr>
          <p:cNvPr id="29" name="Text 27"/>
          <p:cNvSpPr txBox="1"/>
          <p:nvPr/>
        </p:nvSpPr>
        <p:spPr>
          <a:xfrm>
            <a:off x="6080760" y="40873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06840" y="4087368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</p:spPr>
      </p:sp>
      <p:sp>
        <p:nvSpPr>
          <p:cNvPr id="31" name="Text 29"/>
          <p:cNvSpPr txBox="1"/>
          <p:nvPr/>
        </p:nvSpPr>
        <p:spPr>
          <a:xfrm>
            <a:off x="9144000" y="40873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00176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record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880360" y="5001768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EAF0FA"/>
          </a:solidFill>
        </p:spPr>
      </p:sp>
      <p:sp>
        <p:nvSpPr>
          <p:cNvPr id="34" name="Text 32"/>
          <p:cNvSpPr txBox="1"/>
          <p:nvPr/>
        </p:nvSpPr>
        <p:spPr>
          <a:xfrm>
            <a:off x="3017520" y="50017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McDonald's, BMW, major airports &amp; rail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0" y="5001768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</p:spPr>
      </p:sp>
      <p:sp>
        <p:nvSpPr>
          <p:cNvPr id="36" name="Text 34"/>
          <p:cNvSpPr txBox="1"/>
          <p:nvPr/>
        </p:nvSpPr>
        <p:spPr>
          <a:xfrm>
            <a:off x="6080760" y="50017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Legacy, low differentiation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006840" y="5001768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</p:spPr>
      </p:sp>
      <p:sp>
        <p:nvSpPr>
          <p:cNvPr id="38" name="Text 36"/>
          <p:cNvSpPr txBox="1"/>
          <p:nvPr/>
        </p:nvSpPr>
        <p:spPr>
          <a:xfrm>
            <a:off x="9144000" y="50017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Fragmented, unproven at scale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591616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flexibility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880360" y="5916168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EAF0FA"/>
          </a:solidFill>
        </p:spPr>
      </p:sp>
      <p:sp>
        <p:nvSpPr>
          <p:cNvPr id="41" name="Text 39"/>
          <p:cNvSpPr txBox="1"/>
          <p:nvPr/>
        </p:nvSpPr>
        <p:spPr>
          <a:xfrm>
            <a:off x="3017520" y="59161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Mains or battery-powered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43600" y="5916168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</p:spPr>
      </p:sp>
      <p:sp>
        <p:nvSpPr>
          <p:cNvPr id="43" name="Text 41"/>
          <p:cNvSpPr txBox="1"/>
          <p:nvPr/>
        </p:nvSpPr>
        <p:spPr>
          <a:xfrm>
            <a:off x="6080760" y="59161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Needs outlet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006840" y="5916168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</p:spPr>
      </p:sp>
      <p:sp>
        <p:nvSpPr>
          <p:cNvPr id="45" name="Text 43"/>
          <p:cNvSpPr txBox="1"/>
          <p:nvPr/>
        </p:nvSpPr>
        <p:spPr>
          <a:xfrm>
            <a:off x="9144000" y="59161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Needs outlet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6095</Words>
  <Application>WPS Presentation</Application>
  <PresentationFormat>On-screen Show (16:9)</PresentationFormat>
  <Paragraphs>286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Najmie Najmie</cp:lastModifiedBy>
  <cp:revision>2</cp:revision>
  <dcterms:created xsi:type="dcterms:W3CDTF">2026-09-03T05:01:00Z</dcterms:created>
  <dcterms:modified xsi:type="dcterms:W3CDTF">2026-09-03T08:53:50Z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969CCB64ACD047DAA088E5C7536107A1_13</vt:lpwstr>
  </property>
</Properties>
</file>